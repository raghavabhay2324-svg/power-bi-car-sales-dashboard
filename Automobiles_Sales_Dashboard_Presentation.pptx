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764"/>
        </a:solidFill>
        <a:effectLst/>
      </p:bgPr>
    </p:bg>
    <p:spTree>
      <p:nvGrpSpPr>
        <p:cNvPr id="1" name=""/>
        <p:cNvGrpSpPr/>
        <p:nvPr/>
      </p:nvGrpSpPr>
      <p:grpSpPr/>
      <p:sp>
        <p:nvSpPr>
          <p:cNvPr id="2" name="TextBox 1"/>
          <p:cNvSpPr txBox="1"/>
          <p:nvPr/>
        </p:nvSpPr>
        <p:spPr>
          <a:xfrm>
            <a:off x="685800" y="1280160"/>
            <a:ext cx="10881360" cy="1371600"/>
          </a:xfrm>
          <a:prstGeom prst="rect">
            <a:avLst/>
          </a:prstGeom>
          <a:noFill/>
        </p:spPr>
        <p:txBody>
          <a:bodyPr wrap="square">
            <a:spAutoFit/>
          </a:bodyPr>
          <a:lstStyle/>
          <a:p>
            <a:pPr algn="ctr">
              <a:defRPr sz="3400" b="1">
                <a:solidFill>
                  <a:srgbClr val="FFFFFF"/>
                </a:solidFill>
                <a:latin typeface="Aptos"/>
              </a:defRPr>
            </a:pPr>
            <a:r>
              <a:t>AUTOMOBILES SALES</a:t>
            </a:r>
          </a:p>
          <a:p>
            <a:pPr algn="ctr">
              <a:defRPr sz="3400" b="1">
                <a:solidFill>
                  <a:srgbClr val="FFFFFF"/>
                </a:solidFill>
                <a:latin typeface="Aptos"/>
              </a:defRPr>
            </a:pPr>
            <a:r>
              <a:t>PERFORMANCE DASHBOARD</a:t>
            </a:r>
          </a:p>
        </p:txBody>
      </p:sp>
      <p:sp>
        <p:nvSpPr>
          <p:cNvPr id="3" name="TextBox 2"/>
          <p:cNvSpPr txBox="1"/>
          <p:nvPr/>
        </p:nvSpPr>
        <p:spPr>
          <a:xfrm>
            <a:off x="1097280" y="2880360"/>
            <a:ext cx="9966960" cy="502920"/>
          </a:xfrm>
          <a:prstGeom prst="rect">
            <a:avLst/>
          </a:prstGeom>
          <a:noFill/>
        </p:spPr>
        <p:txBody>
          <a:bodyPr wrap="square">
            <a:spAutoFit/>
          </a:bodyPr>
          <a:lstStyle/>
          <a:p>
            <a:pPr algn="ctr">
              <a:defRPr sz="1900" b="0">
                <a:solidFill>
                  <a:srgbClr val="CDE1F5"/>
                </a:solidFill>
                <a:latin typeface="Aptos"/>
              </a:defRPr>
            </a:pPr>
            <a:r>
              <a:t>A slide-by-slide walkthrough of how the dashboard was built</a:t>
            </a:r>
          </a:p>
        </p:txBody>
      </p:sp>
      <p:sp>
        <p:nvSpPr>
          <p:cNvPr id="4" name="Rectangle 3"/>
          <p:cNvSpPr/>
          <p:nvPr/>
        </p:nvSpPr>
        <p:spPr>
          <a:xfrm>
            <a:off x="3931920" y="3657600"/>
            <a:ext cx="4297680" cy="54864"/>
          </a:xfrm>
          <a:prstGeom prst="rect">
            <a:avLst/>
          </a:prstGeom>
          <a:solidFill>
            <a:srgbClr val="37BE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5303520"/>
            <a:ext cx="10332720" cy="365760"/>
          </a:xfrm>
          <a:prstGeom prst="rect">
            <a:avLst/>
          </a:prstGeom>
          <a:noFill/>
        </p:spPr>
        <p:txBody>
          <a:bodyPr wrap="square">
            <a:spAutoFit/>
          </a:bodyPr>
          <a:lstStyle/>
          <a:p>
            <a:pPr algn="ctr">
              <a:defRPr sz="1500" b="0">
                <a:solidFill>
                  <a:srgbClr val="FFFFFF"/>
                </a:solidFill>
                <a:latin typeface="Aptos"/>
              </a:defRPr>
            </a:pPr>
            <a:r>
              <a:t>Project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2764"/>
        </a:solidFill>
        <a:effectLst/>
      </p:bgPr>
    </p:bg>
    <p:spTree>
      <p:nvGrpSpPr>
        <p:cNvPr id="1" name=""/>
        <p:cNvGrpSpPr/>
        <p:nvPr/>
      </p:nvGrpSpPr>
      <p:grpSpPr/>
      <p:sp>
        <p:nvSpPr>
          <p:cNvPr id="2" name="TextBox 1"/>
          <p:cNvSpPr txBox="1"/>
          <p:nvPr/>
        </p:nvSpPr>
        <p:spPr>
          <a:xfrm>
            <a:off x="502920" y="320040"/>
            <a:ext cx="11155680" cy="502920"/>
          </a:xfrm>
          <a:prstGeom prst="rect">
            <a:avLst/>
          </a:prstGeom>
          <a:noFill/>
        </p:spPr>
        <p:txBody>
          <a:bodyPr wrap="square">
            <a:spAutoFit/>
          </a:bodyPr>
          <a:lstStyle/>
          <a:p>
            <a:pPr>
              <a:defRPr sz="2800" b="1">
                <a:solidFill>
                  <a:srgbClr val="FFFFFF"/>
                </a:solidFill>
                <a:latin typeface="Aptos"/>
              </a:defRPr>
            </a:pPr>
            <a:r>
              <a:t>1. Project Objective</a:t>
            </a:r>
          </a:p>
        </p:txBody>
      </p:sp>
      <p:sp>
        <p:nvSpPr>
          <p:cNvPr id="3" name="TextBox 2"/>
          <p:cNvSpPr txBox="1"/>
          <p:nvPr/>
        </p:nvSpPr>
        <p:spPr>
          <a:xfrm>
            <a:off x="530352" y="868680"/>
            <a:ext cx="10972800" cy="384048"/>
          </a:xfrm>
          <a:prstGeom prst="rect">
            <a:avLst/>
          </a:prstGeom>
          <a:noFill/>
        </p:spPr>
        <p:txBody>
          <a:bodyPr wrap="square">
            <a:spAutoFit/>
          </a:bodyPr>
          <a:lstStyle/>
          <a:p>
            <a:pPr>
              <a:defRPr sz="1200" b="0">
                <a:solidFill>
                  <a:srgbClr val="D2E1F5"/>
                </a:solidFill>
                <a:latin typeface="Aptos"/>
              </a:defRPr>
            </a:pPr>
            <a:r>
              <a:t>Start by defining what the dashboard needs to answer.</a:t>
            </a:r>
          </a:p>
        </p:txBody>
      </p:sp>
      <p:sp>
        <p:nvSpPr>
          <p:cNvPr id="4" name="TextBox 3"/>
          <p:cNvSpPr txBox="1"/>
          <p:nvPr/>
        </p:nvSpPr>
        <p:spPr>
          <a:xfrm>
            <a:off x="777240" y="1508760"/>
            <a:ext cx="10607040" cy="4389120"/>
          </a:xfrm>
          <a:prstGeom prst="rect">
            <a:avLst/>
          </a:prstGeom>
          <a:noFill/>
        </p:spPr>
        <p:txBody>
          <a:bodyPr wrap="square">
            <a:spAutoFit/>
          </a:bodyPr>
          <a:lstStyle/>
          <a:p>
            <a:pPr>
              <a:spcAft>
                <a:spcPts val="1400"/>
              </a:spcAft>
              <a:defRPr sz="2200">
                <a:solidFill>
                  <a:srgbClr val="FFFFFF"/>
                </a:solidFill>
                <a:latin typeface="Aptos"/>
              </a:defRPr>
            </a:pPr>
            <a:r>
              <a:t>•  Create a single view of automobile sales performance.</a:t>
            </a:r>
          </a:p>
          <a:p>
            <a:pPr>
              <a:spcAft>
                <a:spcPts val="1400"/>
              </a:spcAft>
              <a:defRPr sz="2200">
                <a:solidFill>
                  <a:srgbClr val="FFFFFF"/>
                </a:solidFill>
                <a:latin typeface="Aptos"/>
              </a:defRPr>
            </a:pPr>
            <a:r>
              <a:t>•  Track revenue, profit, cars sold and total sales at a glance.</a:t>
            </a:r>
          </a:p>
          <a:p>
            <a:pPr>
              <a:spcAft>
                <a:spcPts val="1400"/>
              </a:spcAft>
              <a:defRPr sz="2200">
                <a:solidFill>
                  <a:srgbClr val="FFFFFF"/>
                </a:solidFill>
                <a:latin typeface="Aptos"/>
              </a:defRPr>
            </a:pPr>
            <a:r>
              <a:t>•  Compare revenue across months, cities, states and sales channels.</a:t>
            </a:r>
          </a:p>
          <a:p>
            <a:pPr>
              <a:spcAft>
                <a:spcPts val="1400"/>
              </a:spcAft>
              <a:defRPr sz="2200">
                <a:solidFill>
                  <a:srgbClr val="FFFFFF"/>
                </a:solidFill>
                <a:latin typeface="Aptos"/>
              </a:defRPr>
            </a:pPr>
            <a:r>
              <a:t>•  Use clear visuals so business users can identify patterns quickly.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2764"/>
        </a:solidFill>
        <a:effectLst/>
      </p:bgPr>
    </p:bg>
    <p:spTree>
      <p:nvGrpSpPr>
        <p:cNvPr id="1" name=""/>
        <p:cNvGrpSpPr/>
        <p:nvPr/>
      </p:nvGrpSpPr>
      <p:grpSpPr/>
      <p:sp>
        <p:nvSpPr>
          <p:cNvPr id="2" name="TextBox 1"/>
          <p:cNvSpPr txBox="1"/>
          <p:nvPr/>
        </p:nvSpPr>
        <p:spPr>
          <a:xfrm>
            <a:off x="502920" y="320040"/>
            <a:ext cx="11155680" cy="502920"/>
          </a:xfrm>
          <a:prstGeom prst="rect">
            <a:avLst/>
          </a:prstGeom>
          <a:noFill/>
        </p:spPr>
        <p:txBody>
          <a:bodyPr wrap="square">
            <a:spAutoFit/>
          </a:bodyPr>
          <a:lstStyle/>
          <a:p>
            <a:pPr>
              <a:defRPr sz="2800" b="1">
                <a:solidFill>
                  <a:srgbClr val="FFFFFF"/>
                </a:solidFill>
                <a:latin typeface="Aptos"/>
              </a:defRPr>
            </a:pPr>
            <a:r>
              <a:t>2. Data Preparation</a:t>
            </a:r>
          </a:p>
        </p:txBody>
      </p:sp>
      <p:sp>
        <p:nvSpPr>
          <p:cNvPr id="3" name="TextBox 2"/>
          <p:cNvSpPr txBox="1"/>
          <p:nvPr/>
        </p:nvSpPr>
        <p:spPr>
          <a:xfrm>
            <a:off x="530352" y="868680"/>
            <a:ext cx="10972800" cy="384048"/>
          </a:xfrm>
          <a:prstGeom prst="rect">
            <a:avLst/>
          </a:prstGeom>
          <a:noFill/>
        </p:spPr>
        <p:txBody>
          <a:bodyPr wrap="square">
            <a:spAutoFit/>
          </a:bodyPr>
          <a:lstStyle/>
          <a:p>
            <a:pPr>
              <a:defRPr sz="1200" b="0">
                <a:solidFill>
                  <a:srgbClr val="D2E1F5"/>
                </a:solidFill>
                <a:latin typeface="Aptos"/>
              </a:defRPr>
            </a:pPr>
            <a:r>
              <a:t>Prepare a consistent dataset before building visuals.</a:t>
            </a:r>
          </a:p>
        </p:txBody>
      </p:sp>
      <p:sp>
        <p:nvSpPr>
          <p:cNvPr id="4" name="Rounded Rectangle 3"/>
          <p:cNvSpPr/>
          <p:nvPr/>
        </p:nvSpPr>
        <p:spPr>
          <a:xfrm>
            <a:off x="640080" y="1463040"/>
            <a:ext cx="3474720" cy="1828800"/>
          </a:xfrm>
          <a:prstGeom prst="round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463040"/>
            <a:ext cx="109728" cy="1828800"/>
          </a:xfrm>
          <a:prstGeom prst="rect">
            <a:avLst/>
          </a:prstGeom>
          <a:solidFill>
            <a:srgbClr val="37BE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645920"/>
            <a:ext cx="3035808" cy="365760"/>
          </a:xfrm>
          <a:prstGeom prst="rect">
            <a:avLst/>
          </a:prstGeom>
          <a:noFill/>
        </p:spPr>
        <p:txBody>
          <a:bodyPr wrap="square">
            <a:spAutoFit/>
          </a:bodyPr>
          <a:lstStyle/>
          <a:p>
            <a:pPr>
              <a:defRPr sz="1800" b="1">
                <a:solidFill>
                  <a:srgbClr val="0D2764"/>
                </a:solidFill>
                <a:latin typeface="Aptos"/>
              </a:defRPr>
            </a:pPr>
            <a:r>
              <a:t>Review the fields</a:t>
            </a:r>
          </a:p>
        </p:txBody>
      </p:sp>
      <p:sp>
        <p:nvSpPr>
          <p:cNvPr id="7" name="TextBox 6"/>
          <p:cNvSpPr txBox="1"/>
          <p:nvPr/>
        </p:nvSpPr>
        <p:spPr>
          <a:xfrm>
            <a:off x="896112" y="2121408"/>
            <a:ext cx="3035808" cy="1051560"/>
          </a:xfrm>
          <a:prstGeom prst="rect">
            <a:avLst/>
          </a:prstGeom>
          <a:noFill/>
        </p:spPr>
        <p:txBody>
          <a:bodyPr wrap="square">
            <a:spAutoFit/>
          </a:bodyPr>
          <a:lstStyle/>
          <a:p>
            <a:pPr>
              <a:defRPr sz="1400" b="0">
                <a:solidFill>
                  <a:srgbClr val="282D34"/>
                </a:solidFill>
                <a:latin typeface="Aptos"/>
              </a:defRPr>
            </a:pPr>
            <a:r>
              <a:t>Revenue amount, profit, car model, city, state, month and sales channel.</a:t>
            </a:r>
          </a:p>
        </p:txBody>
      </p:sp>
      <p:sp>
        <p:nvSpPr>
          <p:cNvPr id="8" name="Rounded Rectangle 7"/>
          <p:cNvSpPr/>
          <p:nvPr/>
        </p:nvSpPr>
        <p:spPr>
          <a:xfrm>
            <a:off x="4343400" y="1463040"/>
            <a:ext cx="3474720" cy="1828800"/>
          </a:xfrm>
          <a:prstGeom prst="round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463040"/>
            <a:ext cx="109728" cy="1828800"/>
          </a:xfrm>
          <a:prstGeom prst="rect">
            <a:avLst/>
          </a:prstGeom>
          <a:solidFill>
            <a:srgbClr val="469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2" y="1645920"/>
            <a:ext cx="3035808" cy="365760"/>
          </a:xfrm>
          <a:prstGeom prst="rect">
            <a:avLst/>
          </a:prstGeom>
          <a:noFill/>
        </p:spPr>
        <p:txBody>
          <a:bodyPr wrap="square">
            <a:spAutoFit/>
          </a:bodyPr>
          <a:lstStyle/>
          <a:p>
            <a:pPr>
              <a:defRPr sz="1800" b="1">
                <a:solidFill>
                  <a:srgbClr val="0D2764"/>
                </a:solidFill>
                <a:latin typeface="Aptos"/>
              </a:defRPr>
            </a:pPr>
            <a:r>
              <a:t>Clean the data</a:t>
            </a:r>
          </a:p>
        </p:txBody>
      </p:sp>
      <p:sp>
        <p:nvSpPr>
          <p:cNvPr id="11" name="TextBox 10"/>
          <p:cNvSpPr txBox="1"/>
          <p:nvPr/>
        </p:nvSpPr>
        <p:spPr>
          <a:xfrm>
            <a:off x="4599432" y="2121408"/>
            <a:ext cx="3035808" cy="1051560"/>
          </a:xfrm>
          <a:prstGeom prst="rect">
            <a:avLst/>
          </a:prstGeom>
          <a:noFill/>
        </p:spPr>
        <p:txBody>
          <a:bodyPr wrap="square">
            <a:spAutoFit/>
          </a:bodyPr>
          <a:lstStyle/>
          <a:p>
            <a:pPr>
              <a:defRPr sz="1400" b="0">
                <a:solidFill>
                  <a:srgbClr val="282D34"/>
                </a:solidFill>
                <a:latin typeface="Aptos"/>
              </a:defRPr>
            </a:pPr>
            <a:r>
              <a:t>Check blanks, duplicate records, spelling consistency and data types.</a:t>
            </a:r>
          </a:p>
        </p:txBody>
      </p:sp>
      <p:sp>
        <p:nvSpPr>
          <p:cNvPr id="12" name="Rounded Rectangle 11"/>
          <p:cNvSpPr/>
          <p:nvPr/>
        </p:nvSpPr>
        <p:spPr>
          <a:xfrm>
            <a:off x="8046720" y="1463040"/>
            <a:ext cx="3474720" cy="1828800"/>
          </a:xfrm>
          <a:prstGeom prst="round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463040"/>
            <a:ext cx="109728" cy="1828800"/>
          </a:xfrm>
          <a:prstGeom prst="rect">
            <a:avLst/>
          </a:prstGeom>
          <a:solidFill>
            <a:srgbClr val="5A8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645920"/>
            <a:ext cx="3035808" cy="365760"/>
          </a:xfrm>
          <a:prstGeom prst="rect">
            <a:avLst/>
          </a:prstGeom>
          <a:noFill/>
        </p:spPr>
        <p:txBody>
          <a:bodyPr wrap="square">
            <a:spAutoFit/>
          </a:bodyPr>
          <a:lstStyle/>
          <a:p>
            <a:pPr>
              <a:defRPr sz="1800" b="1">
                <a:solidFill>
                  <a:srgbClr val="0D2764"/>
                </a:solidFill>
                <a:latin typeface="Aptos"/>
              </a:defRPr>
            </a:pPr>
            <a:r>
              <a:t>Create measures</a:t>
            </a:r>
          </a:p>
        </p:txBody>
      </p:sp>
      <p:sp>
        <p:nvSpPr>
          <p:cNvPr id="15" name="TextBox 14"/>
          <p:cNvSpPr txBox="1"/>
          <p:nvPr/>
        </p:nvSpPr>
        <p:spPr>
          <a:xfrm>
            <a:off x="8302752" y="2121408"/>
            <a:ext cx="3035808" cy="1051560"/>
          </a:xfrm>
          <a:prstGeom prst="rect">
            <a:avLst/>
          </a:prstGeom>
          <a:noFill/>
        </p:spPr>
        <p:txBody>
          <a:bodyPr wrap="square">
            <a:spAutoFit/>
          </a:bodyPr>
          <a:lstStyle/>
          <a:p>
            <a:pPr>
              <a:defRPr sz="1400" b="0">
                <a:solidFill>
                  <a:srgbClr val="282D34"/>
                </a:solidFill>
                <a:latin typeface="Aptos"/>
              </a:defRPr>
            </a:pPr>
            <a:r>
              <a:t>Use consistent aggregation for total revenue, total profit, cars sold and sales.</a:t>
            </a:r>
          </a:p>
        </p:txBody>
      </p:sp>
      <p:sp>
        <p:nvSpPr>
          <p:cNvPr id="16" name="TextBox 15"/>
          <p:cNvSpPr txBox="1"/>
          <p:nvPr/>
        </p:nvSpPr>
        <p:spPr>
          <a:xfrm>
            <a:off x="914400" y="4160520"/>
            <a:ext cx="10424160" cy="822960"/>
          </a:xfrm>
          <a:prstGeom prst="rect">
            <a:avLst/>
          </a:prstGeom>
          <a:noFill/>
        </p:spPr>
        <p:txBody>
          <a:bodyPr wrap="square">
            <a:spAutoFit/>
          </a:bodyPr>
          <a:lstStyle/>
          <a:p>
            <a:pPr algn="ctr">
              <a:defRPr sz="2100" b="1">
                <a:solidFill>
                  <a:srgbClr val="FFFFFF"/>
                </a:solidFill>
                <a:latin typeface="Aptos"/>
              </a:defRPr>
            </a:pPr>
            <a:r>
              <a:t>Typical workflow: source data → cleaning and validation → calculated measures → dashboard visuals</a:t>
            </a:r>
          </a:p>
        </p:txBody>
      </p:sp>
      <p:sp>
        <p:nvSpPr>
          <p:cNvPr id="17" name="TextBox 16"/>
          <p:cNvSpPr txBox="1"/>
          <p:nvPr/>
        </p:nvSpPr>
        <p:spPr>
          <a:xfrm>
            <a:off x="822960" y="5806440"/>
            <a:ext cx="10515600" cy="502920"/>
          </a:xfrm>
          <a:prstGeom prst="rect">
            <a:avLst/>
          </a:prstGeom>
          <a:noFill/>
        </p:spPr>
        <p:txBody>
          <a:bodyPr wrap="square">
            <a:spAutoFit/>
          </a:bodyPr>
          <a:lstStyle/>
          <a:p>
            <a:pPr>
              <a:defRPr sz="1100" b="0">
                <a:solidFill>
                  <a:srgbClr val="D2E1F5"/>
                </a:solidFill>
                <a:latin typeface="Aptos"/>
              </a:defRPr>
            </a:pPr>
            <a:r>
              <a:t>The screenshot shows the final dashboard; exact source tables and transformation steps were not provided, so these are the recommended build steps.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2764"/>
        </a:solidFill>
        <a:effectLst/>
      </p:bgPr>
    </p:bg>
    <p:spTree>
      <p:nvGrpSpPr>
        <p:cNvPr id="1" name=""/>
        <p:cNvGrpSpPr/>
        <p:nvPr/>
      </p:nvGrpSpPr>
      <p:grpSpPr/>
      <p:sp>
        <p:nvSpPr>
          <p:cNvPr id="2" name="TextBox 1"/>
          <p:cNvSpPr txBox="1"/>
          <p:nvPr/>
        </p:nvSpPr>
        <p:spPr>
          <a:xfrm>
            <a:off x="502920" y="320040"/>
            <a:ext cx="11155680" cy="502920"/>
          </a:xfrm>
          <a:prstGeom prst="rect">
            <a:avLst/>
          </a:prstGeom>
          <a:noFill/>
        </p:spPr>
        <p:txBody>
          <a:bodyPr wrap="square">
            <a:spAutoFit/>
          </a:bodyPr>
          <a:lstStyle/>
          <a:p>
            <a:pPr>
              <a:defRPr sz="2800" b="1">
                <a:solidFill>
                  <a:srgbClr val="FFFFFF"/>
                </a:solidFill>
                <a:latin typeface="Aptos"/>
              </a:defRPr>
            </a:pPr>
            <a:r>
              <a:t>3. Design the Dashboard Layout</a:t>
            </a:r>
          </a:p>
        </p:txBody>
      </p:sp>
      <p:sp>
        <p:nvSpPr>
          <p:cNvPr id="3" name="TextBox 2"/>
          <p:cNvSpPr txBox="1"/>
          <p:nvPr/>
        </p:nvSpPr>
        <p:spPr>
          <a:xfrm>
            <a:off x="530352" y="868680"/>
            <a:ext cx="10972800" cy="384048"/>
          </a:xfrm>
          <a:prstGeom prst="rect">
            <a:avLst/>
          </a:prstGeom>
          <a:noFill/>
        </p:spPr>
        <p:txBody>
          <a:bodyPr wrap="square">
            <a:spAutoFit/>
          </a:bodyPr>
          <a:lstStyle/>
          <a:p>
            <a:pPr>
              <a:defRPr sz="1200" b="0">
                <a:solidFill>
                  <a:srgbClr val="D2E1F5"/>
                </a:solidFill>
                <a:latin typeface="Aptos"/>
              </a:defRPr>
            </a:pPr>
            <a:r>
              <a:t>Set up the page before adding charts.</a:t>
            </a:r>
          </a:p>
        </p:txBody>
      </p:sp>
      <p:sp>
        <p:nvSpPr>
          <p:cNvPr id="4" name="TextBox 3"/>
          <p:cNvSpPr txBox="1"/>
          <p:nvPr/>
        </p:nvSpPr>
        <p:spPr>
          <a:xfrm>
            <a:off x="777240" y="1508760"/>
            <a:ext cx="10607040" cy="4389120"/>
          </a:xfrm>
          <a:prstGeom prst="rect">
            <a:avLst/>
          </a:prstGeom>
          <a:noFill/>
        </p:spPr>
        <p:txBody>
          <a:bodyPr wrap="square">
            <a:spAutoFit/>
          </a:bodyPr>
          <a:lstStyle/>
          <a:p>
            <a:pPr>
              <a:spcAft>
                <a:spcPts val="1400"/>
              </a:spcAft>
              <a:defRPr sz="2000">
                <a:solidFill>
                  <a:srgbClr val="FFFFFF"/>
                </a:solidFill>
                <a:latin typeface="Aptos"/>
              </a:defRPr>
            </a:pPr>
            <a:r>
              <a:t>•  Use a dark navy background with light chart panels for contrast.</a:t>
            </a:r>
          </a:p>
          <a:p>
            <a:pPr>
              <a:spcAft>
                <a:spcPts val="1400"/>
              </a:spcAft>
              <a:defRPr sz="2000">
                <a:solidFill>
                  <a:srgbClr val="FFFFFF"/>
                </a:solidFill>
                <a:latin typeface="Aptos"/>
              </a:defRPr>
            </a:pPr>
            <a:r>
              <a:t>•  Place the dashboard title at the top for immediate context.</a:t>
            </a:r>
          </a:p>
          <a:p>
            <a:pPr>
              <a:spcAft>
                <a:spcPts val="1400"/>
              </a:spcAft>
              <a:defRPr sz="2000">
                <a:solidFill>
                  <a:srgbClr val="FFFFFF"/>
                </a:solidFill>
                <a:latin typeface="Aptos"/>
              </a:defRPr>
            </a:pPr>
            <a:r>
              <a:t>•  Put high-level KPI cards in the first row.</a:t>
            </a:r>
          </a:p>
          <a:p>
            <a:pPr>
              <a:spcAft>
                <a:spcPts val="1400"/>
              </a:spcAft>
              <a:defRPr sz="2000">
                <a:solidFill>
                  <a:srgbClr val="FFFFFF"/>
                </a:solidFill>
                <a:latin typeface="Aptos"/>
              </a:defRPr>
            </a:pPr>
            <a:r>
              <a:t>•  Arrange trend and comparison charts beneath the KPIs.</a:t>
            </a:r>
          </a:p>
          <a:p>
            <a:pPr>
              <a:spcAft>
                <a:spcPts val="1400"/>
              </a:spcAft>
              <a:defRPr sz="2000">
                <a:solidFill>
                  <a:srgbClr val="FFFFFF"/>
                </a:solidFill>
                <a:latin typeface="Aptos"/>
              </a:defRPr>
            </a:pPr>
            <a:r>
              <a:t>•  Keep titles, labels and spacing consistent across visuals.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2764"/>
        </a:solidFill>
        <a:effectLst/>
      </p:bgPr>
    </p:bg>
    <p:spTree>
      <p:nvGrpSpPr>
        <p:cNvPr id="1" name=""/>
        <p:cNvGrpSpPr/>
        <p:nvPr/>
      </p:nvGrpSpPr>
      <p:grpSpPr/>
      <p:sp>
        <p:nvSpPr>
          <p:cNvPr id="2" name="TextBox 1"/>
          <p:cNvSpPr txBox="1"/>
          <p:nvPr/>
        </p:nvSpPr>
        <p:spPr>
          <a:xfrm>
            <a:off x="502920" y="320040"/>
            <a:ext cx="11155680" cy="502920"/>
          </a:xfrm>
          <a:prstGeom prst="rect">
            <a:avLst/>
          </a:prstGeom>
          <a:noFill/>
        </p:spPr>
        <p:txBody>
          <a:bodyPr wrap="square">
            <a:spAutoFit/>
          </a:bodyPr>
          <a:lstStyle/>
          <a:p>
            <a:pPr>
              <a:defRPr sz="2800" b="1">
                <a:solidFill>
                  <a:srgbClr val="FFFFFF"/>
                </a:solidFill>
                <a:latin typeface="Aptos"/>
              </a:defRPr>
            </a:pPr>
            <a:r>
              <a:t>4. Add the KPI Cards</a:t>
            </a:r>
          </a:p>
        </p:txBody>
      </p:sp>
      <p:sp>
        <p:nvSpPr>
          <p:cNvPr id="3" name="TextBox 2"/>
          <p:cNvSpPr txBox="1"/>
          <p:nvPr/>
        </p:nvSpPr>
        <p:spPr>
          <a:xfrm>
            <a:off x="530352" y="868680"/>
            <a:ext cx="10972800" cy="384048"/>
          </a:xfrm>
          <a:prstGeom prst="rect">
            <a:avLst/>
          </a:prstGeom>
          <a:noFill/>
        </p:spPr>
        <p:txBody>
          <a:bodyPr wrap="square">
            <a:spAutoFit/>
          </a:bodyPr>
          <a:lstStyle/>
          <a:p>
            <a:pPr>
              <a:defRPr sz="1200" b="0">
                <a:solidFill>
                  <a:srgbClr val="D2E1F5"/>
                </a:solidFill>
                <a:latin typeface="Aptos"/>
              </a:defRPr>
            </a:pPr>
            <a:r>
              <a:t>The top row summarizes the headline metrics.</a:t>
            </a:r>
          </a:p>
        </p:txBody>
      </p:sp>
      <p:sp>
        <p:nvSpPr>
          <p:cNvPr id="4" name="Rounded Rectangle 3"/>
          <p:cNvSpPr/>
          <p:nvPr/>
        </p:nvSpPr>
        <p:spPr>
          <a:xfrm>
            <a:off x="594360" y="1828800"/>
            <a:ext cx="2606040" cy="1828800"/>
          </a:xfrm>
          <a:prstGeom prst="round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28800"/>
            <a:ext cx="109728" cy="1828800"/>
          </a:xfrm>
          <a:prstGeom prst="rect">
            <a:avLst/>
          </a:prstGeom>
          <a:solidFill>
            <a:srgbClr val="37BE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2011680"/>
            <a:ext cx="2167128" cy="365760"/>
          </a:xfrm>
          <a:prstGeom prst="rect">
            <a:avLst/>
          </a:prstGeom>
          <a:noFill/>
        </p:spPr>
        <p:txBody>
          <a:bodyPr wrap="square">
            <a:spAutoFit/>
          </a:bodyPr>
          <a:lstStyle/>
          <a:p>
            <a:pPr>
              <a:defRPr sz="1800" b="1">
                <a:solidFill>
                  <a:srgbClr val="0D2764"/>
                </a:solidFill>
                <a:latin typeface="Aptos"/>
              </a:defRPr>
            </a:pPr>
            <a:r>
              <a:t>TOTAL REVENUE</a:t>
            </a:r>
          </a:p>
        </p:txBody>
      </p:sp>
      <p:sp>
        <p:nvSpPr>
          <p:cNvPr id="7" name="TextBox 6"/>
          <p:cNvSpPr txBox="1"/>
          <p:nvPr/>
        </p:nvSpPr>
        <p:spPr>
          <a:xfrm>
            <a:off x="850392" y="2487168"/>
            <a:ext cx="2167128" cy="1051560"/>
          </a:xfrm>
          <a:prstGeom prst="rect">
            <a:avLst/>
          </a:prstGeom>
          <a:noFill/>
        </p:spPr>
        <p:txBody>
          <a:bodyPr wrap="square">
            <a:spAutoFit/>
          </a:bodyPr>
          <a:lstStyle/>
          <a:p>
            <a:pPr>
              <a:defRPr sz="1400" b="0">
                <a:solidFill>
                  <a:srgbClr val="282D34"/>
                </a:solidFill>
                <a:latin typeface="Aptos"/>
              </a:defRPr>
            </a:pPr>
            <a:r>
              <a:t>572M</a:t>
            </a:r>
          </a:p>
        </p:txBody>
      </p:sp>
      <p:sp>
        <p:nvSpPr>
          <p:cNvPr id="8" name="Rounded Rectangle 7"/>
          <p:cNvSpPr/>
          <p:nvPr/>
        </p:nvSpPr>
        <p:spPr>
          <a:xfrm>
            <a:off x="3474720" y="1828800"/>
            <a:ext cx="2606040" cy="1828800"/>
          </a:xfrm>
          <a:prstGeom prst="round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74720" y="1828800"/>
            <a:ext cx="109728" cy="1828800"/>
          </a:xfrm>
          <a:prstGeom prst="rect">
            <a:avLst/>
          </a:prstGeom>
          <a:solidFill>
            <a:srgbClr val="5A8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30752" y="2011680"/>
            <a:ext cx="2167128" cy="365760"/>
          </a:xfrm>
          <a:prstGeom prst="rect">
            <a:avLst/>
          </a:prstGeom>
          <a:noFill/>
        </p:spPr>
        <p:txBody>
          <a:bodyPr wrap="square">
            <a:spAutoFit/>
          </a:bodyPr>
          <a:lstStyle/>
          <a:p>
            <a:pPr>
              <a:defRPr sz="1800" b="1">
                <a:solidFill>
                  <a:srgbClr val="0D2764"/>
                </a:solidFill>
                <a:latin typeface="Aptos"/>
              </a:defRPr>
            </a:pPr>
            <a:r>
              <a:t>TOTAL PROFIT</a:t>
            </a:r>
          </a:p>
        </p:txBody>
      </p:sp>
      <p:sp>
        <p:nvSpPr>
          <p:cNvPr id="11" name="TextBox 10"/>
          <p:cNvSpPr txBox="1"/>
          <p:nvPr/>
        </p:nvSpPr>
        <p:spPr>
          <a:xfrm>
            <a:off x="3730752" y="2487168"/>
            <a:ext cx="2167128" cy="1051560"/>
          </a:xfrm>
          <a:prstGeom prst="rect">
            <a:avLst/>
          </a:prstGeom>
          <a:noFill/>
        </p:spPr>
        <p:txBody>
          <a:bodyPr wrap="square">
            <a:spAutoFit/>
          </a:bodyPr>
          <a:lstStyle/>
          <a:p>
            <a:pPr>
              <a:defRPr sz="1400" b="0">
                <a:solidFill>
                  <a:srgbClr val="282D34"/>
                </a:solidFill>
                <a:latin typeface="Aptos"/>
              </a:defRPr>
            </a:pPr>
            <a:r>
              <a:t>73.50M</a:t>
            </a:r>
          </a:p>
        </p:txBody>
      </p:sp>
      <p:sp>
        <p:nvSpPr>
          <p:cNvPr id="12" name="Rounded Rectangle 11"/>
          <p:cNvSpPr/>
          <p:nvPr/>
        </p:nvSpPr>
        <p:spPr>
          <a:xfrm>
            <a:off x="6355080" y="1828800"/>
            <a:ext cx="2606040" cy="1828800"/>
          </a:xfrm>
          <a:prstGeom prst="round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1828800"/>
            <a:ext cx="109728" cy="1828800"/>
          </a:xfrm>
          <a:prstGeom prst="rect">
            <a:avLst/>
          </a:prstGeom>
          <a:solidFill>
            <a:srgbClr val="469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11112" y="2011680"/>
            <a:ext cx="2167128" cy="365760"/>
          </a:xfrm>
          <a:prstGeom prst="rect">
            <a:avLst/>
          </a:prstGeom>
          <a:noFill/>
        </p:spPr>
        <p:txBody>
          <a:bodyPr wrap="square">
            <a:spAutoFit/>
          </a:bodyPr>
          <a:lstStyle/>
          <a:p>
            <a:pPr>
              <a:defRPr sz="1800" b="1">
                <a:solidFill>
                  <a:srgbClr val="0D2764"/>
                </a:solidFill>
                <a:latin typeface="Aptos"/>
              </a:defRPr>
            </a:pPr>
            <a:r>
              <a:t>CARS SOLD</a:t>
            </a:r>
          </a:p>
        </p:txBody>
      </p:sp>
      <p:sp>
        <p:nvSpPr>
          <p:cNvPr id="15" name="TextBox 14"/>
          <p:cNvSpPr txBox="1"/>
          <p:nvPr/>
        </p:nvSpPr>
        <p:spPr>
          <a:xfrm>
            <a:off x="6611112" y="2487168"/>
            <a:ext cx="2167128" cy="1051560"/>
          </a:xfrm>
          <a:prstGeom prst="rect">
            <a:avLst/>
          </a:prstGeom>
          <a:noFill/>
        </p:spPr>
        <p:txBody>
          <a:bodyPr wrap="square">
            <a:spAutoFit/>
          </a:bodyPr>
          <a:lstStyle/>
          <a:p>
            <a:pPr>
              <a:defRPr sz="1400" b="0">
                <a:solidFill>
                  <a:srgbClr val="282D34"/>
                </a:solidFill>
                <a:latin typeface="Aptos"/>
              </a:defRPr>
            </a:pPr>
            <a:r>
              <a:t>500</a:t>
            </a:r>
          </a:p>
        </p:txBody>
      </p:sp>
      <p:sp>
        <p:nvSpPr>
          <p:cNvPr id="16" name="Rounded Rectangle 15"/>
          <p:cNvSpPr/>
          <p:nvPr/>
        </p:nvSpPr>
        <p:spPr>
          <a:xfrm>
            <a:off x="9235440" y="1828800"/>
            <a:ext cx="2606040" cy="1828800"/>
          </a:xfrm>
          <a:prstGeom prst="round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35440" y="1828800"/>
            <a:ext cx="109728" cy="1828800"/>
          </a:xfrm>
          <a:prstGeom prst="rect">
            <a:avLst/>
          </a:prstGeom>
          <a:solidFill>
            <a:srgbClr val="149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91472" y="2011680"/>
            <a:ext cx="2167128" cy="365760"/>
          </a:xfrm>
          <a:prstGeom prst="rect">
            <a:avLst/>
          </a:prstGeom>
          <a:noFill/>
        </p:spPr>
        <p:txBody>
          <a:bodyPr wrap="square">
            <a:spAutoFit/>
          </a:bodyPr>
          <a:lstStyle/>
          <a:p>
            <a:pPr>
              <a:defRPr sz="1800" b="1">
                <a:solidFill>
                  <a:srgbClr val="0D2764"/>
                </a:solidFill>
                <a:latin typeface="Aptos"/>
              </a:defRPr>
            </a:pPr>
            <a:r>
              <a:t>TOTAL SALES</a:t>
            </a:r>
          </a:p>
        </p:txBody>
      </p:sp>
      <p:sp>
        <p:nvSpPr>
          <p:cNvPr id="19" name="TextBox 18"/>
          <p:cNvSpPr txBox="1"/>
          <p:nvPr/>
        </p:nvSpPr>
        <p:spPr>
          <a:xfrm>
            <a:off x="9491472" y="2487168"/>
            <a:ext cx="2167128" cy="1051560"/>
          </a:xfrm>
          <a:prstGeom prst="rect">
            <a:avLst/>
          </a:prstGeom>
          <a:noFill/>
        </p:spPr>
        <p:txBody>
          <a:bodyPr wrap="square">
            <a:spAutoFit/>
          </a:bodyPr>
          <a:lstStyle/>
          <a:p>
            <a:pPr>
              <a:defRPr sz="1400" b="0">
                <a:solidFill>
                  <a:srgbClr val="282D34"/>
                </a:solidFill>
                <a:latin typeface="Aptos"/>
              </a:defRPr>
            </a:pPr>
            <a:r>
              <a:t>500</a:t>
            </a:r>
          </a:p>
        </p:txBody>
      </p:sp>
      <p:sp>
        <p:nvSpPr>
          <p:cNvPr id="20" name="TextBox 19"/>
          <p:cNvSpPr txBox="1"/>
          <p:nvPr/>
        </p:nvSpPr>
        <p:spPr>
          <a:xfrm>
            <a:off x="868680" y="4617720"/>
            <a:ext cx="10424160" cy="640080"/>
          </a:xfrm>
          <a:prstGeom prst="rect">
            <a:avLst/>
          </a:prstGeom>
          <a:noFill/>
        </p:spPr>
        <p:txBody>
          <a:bodyPr wrap="square">
            <a:spAutoFit/>
          </a:bodyPr>
          <a:lstStyle/>
          <a:p>
            <a:pPr algn="ctr">
              <a:defRPr sz="2000" b="1">
                <a:solidFill>
                  <a:srgbClr val="FFFFFF"/>
                </a:solidFill>
                <a:latin typeface="Aptos"/>
              </a:defRPr>
            </a:pPr>
            <a:r>
              <a:t>Why this step matters: decision-makers can read the key results without inspecting every chart.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2764"/>
        </a:solidFill>
        <a:effectLst/>
      </p:bgPr>
    </p:bg>
    <p:spTree>
      <p:nvGrpSpPr>
        <p:cNvPr id="1" name=""/>
        <p:cNvGrpSpPr/>
        <p:nvPr/>
      </p:nvGrpSpPr>
      <p:grpSpPr/>
      <p:sp>
        <p:nvSpPr>
          <p:cNvPr id="2" name="TextBox 1"/>
          <p:cNvSpPr txBox="1"/>
          <p:nvPr/>
        </p:nvSpPr>
        <p:spPr>
          <a:xfrm>
            <a:off x="502920" y="320040"/>
            <a:ext cx="11155680" cy="502920"/>
          </a:xfrm>
          <a:prstGeom prst="rect">
            <a:avLst/>
          </a:prstGeom>
          <a:noFill/>
        </p:spPr>
        <p:txBody>
          <a:bodyPr wrap="square">
            <a:spAutoFit/>
          </a:bodyPr>
          <a:lstStyle/>
          <a:p>
            <a:pPr>
              <a:defRPr sz="2800" b="1">
                <a:solidFill>
                  <a:srgbClr val="FFFFFF"/>
                </a:solidFill>
                <a:latin typeface="Aptos"/>
              </a:defRPr>
            </a:pPr>
            <a:r>
              <a:t>5. Visualize Monthly Revenue Trends</a:t>
            </a:r>
          </a:p>
        </p:txBody>
      </p:sp>
      <p:sp>
        <p:nvSpPr>
          <p:cNvPr id="3" name="TextBox 2"/>
          <p:cNvSpPr txBox="1"/>
          <p:nvPr/>
        </p:nvSpPr>
        <p:spPr>
          <a:xfrm>
            <a:off x="530352" y="868680"/>
            <a:ext cx="10972800" cy="384048"/>
          </a:xfrm>
          <a:prstGeom prst="rect">
            <a:avLst/>
          </a:prstGeom>
          <a:noFill/>
        </p:spPr>
        <p:txBody>
          <a:bodyPr wrap="square">
            <a:spAutoFit/>
          </a:bodyPr>
          <a:lstStyle/>
          <a:p>
            <a:pPr>
              <a:defRPr sz="1200" b="0">
                <a:solidFill>
                  <a:srgbClr val="D2E1F5"/>
                </a:solidFill>
                <a:latin typeface="Aptos"/>
              </a:defRPr>
            </a:pPr>
            <a:r>
              <a:t>Line chart: revenue by month.</a:t>
            </a:r>
          </a:p>
        </p:txBody>
      </p:sp>
      <p:sp>
        <p:nvSpPr>
          <p:cNvPr id="4" name="Rounded Rectangle 3"/>
          <p:cNvSpPr/>
          <p:nvPr/>
        </p:nvSpPr>
        <p:spPr>
          <a:xfrm>
            <a:off x="640080" y="1417320"/>
            <a:ext cx="5120640" cy="3429000"/>
          </a:xfrm>
          <a:prstGeom prst="round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417320"/>
            <a:ext cx="109728" cy="3429000"/>
          </a:xfrm>
          <a:prstGeom prst="rect">
            <a:avLst/>
          </a:prstGeom>
          <a:solidFill>
            <a:srgbClr val="37BE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600200"/>
            <a:ext cx="4681727" cy="365760"/>
          </a:xfrm>
          <a:prstGeom prst="rect">
            <a:avLst/>
          </a:prstGeom>
          <a:noFill/>
        </p:spPr>
        <p:txBody>
          <a:bodyPr wrap="square">
            <a:spAutoFit/>
          </a:bodyPr>
          <a:lstStyle/>
          <a:p>
            <a:pPr>
              <a:defRPr sz="1800" b="1">
                <a:solidFill>
                  <a:srgbClr val="0D2764"/>
                </a:solidFill>
                <a:latin typeface="Aptos"/>
              </a:defRPr>
            </a:pPr>
            <a:r>
              <a:t>Chart setup</a:t>
            </a:r>
          </a:p>
        </p:txBody>
      </p:sp>
      <p:sp>
        <p:nvSpPr>
          <p:cNvPr id="7" name="TextBox 6"/>
          <p:cNvSpPr txBox="1"/>
          <p:nvPr/>
        </p:nvSpPr>
        <p:spPr>
          <a:xfrm>
            <a:off x="896112" y="2075688"/>
            <a:ext cx="4681727" cy="2651760"/>
          </a:xfrm>
          <a:prstGeom prst="rect">
            <a:avLst/>
          </a:prstGeom>
          <a:noFill/>
        </p:spPr>
        <p:txBody>
          <a:bodyPr wrap="square">
            <a:spAutoFit/>
          </a:bodyPr>
          <a:lstStyle/>
          <a:p>
            <a:pPr>
              <a:defRPr sz="1400" b="0">
                <a:solidFill>
                  <a:srgbClr val="282D34"/>
                </a:solidFill>
                <a:latin typeface="Aptos"/>
              </a:defRPr>
            </a:pPr>
            <a:r>
              <a:t>• X-axis: Month</a:t>
            </a:r>
          </a:p>
          <a:p>
            <a:pPr>
              <a:defRPr sz="1400" b="0">
                <a:solidFill>
                  <a:srgbClr val="282D34"/>
                </a:solidFill>
                <a:latin typeface="Aptos"/>
              </a:defRPr>
            </a:pPr>
            <a:r>
              <a:t>• Y-axis: Sum of Revenue_INR</a:t>
            </a:r>
          </a:p>
          <a:p>
            <a:pPr>
              <a:defRPr sz="1400" b="0">
                <a:solidFill>
                  <a:srgbClr val="282D34"/>
                </a:solidFill>
                <a:latin typeface="Aptos"/>
              </a:defRPr>
            </a:pPr>
            <a:r>
              <a:t>• Add point labels to show each month's value</a:t>
            </a:r>
          </a:p>
          <a:p>
            <a:pPr>
              <a:defRPr sz="1400" b="0">
                <a:solidFill>
                  <a:srgbClr val="282D34"/>
                </a:solidFill>
                <a:latin typeface="Aptos"/>
              </a:defRPr>
            </a:pPr>
            <a:r>
              <a:t>• Use a line to make the overall direction easy to see</a:t>
            </a:r>
          </a:p>
        </p:txBody>
      </p:sp>
      <p:sp>
        <p:nvSpPr>
          <p:cNvPr id="8" name="Rounded Rectangle 7"/>
          <p:cNvSpPr/>
          <p:nvPr/>
        </p:nvSpPr>
        <p:spPr>
          <a:xfrm>
            <a:off x="6080760" y="1417320"/>
            <a:ext cx="5394960" cy="3429000"/>
          </a:xfrm>
          <a:prstGeom prst="round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80760" y="1417320"/>
            <a:ext cx="109728" cy="3429000"/>
          </a:xfrm>
          <a:prstGeom prst="rect">
            <a:avLst/>
          </a:prstGeom>
          <a:solidFill>
            <a:srgbClr val="469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36792" y="1600200"/>
            <a:ext cx="4956048" cy="365760"/>
          </a:xfrm>
          <a:prstGeom prst="rect">
            <a:avLst/>
          </a:prstGeom>
          <a:noFill/>
        </p:spPr>
        <p:txBody>
          <a:bodyPr wrap="square">
            <a:spAutoFit/>
          </a:bodyPr>
          <a:lstStyle/>
          <a:p>
            <a:pPr>
              <a:defRPr sz="1800" b="1">
                <a:solidFill>
                  <a:srgbClr val="0D2764"/>
                </a:solidFill>
                <a:latin typeface="Aptos"/>
              </a:defRPr>
            </a:pPr>
            <a:r>
              <a:t>What the chart communicates</a:t>
            </a:r>
          </a:p>
        </p:txBody>
      </p:sp>
      <p:sp>
        <p:nvSpPr>
          <p:cNvPr id="11" name="TextBox 10"/>
          <p:cNvSpPr txBox="1"/>
          <p:nvPr/>
        </p:nvSpPr>
        <p:spPr>
          <a:xfrm>
            <a:off x="6336792" y="2075688"/>
            <a:ext cx="4956048" cy="2651760"/>
          </a:xfrm>
          <a:prstGeom prst="rect">
            <a:avLst/>
          </a:prstGeom>
          <a:noFill/>
        </p:spPr>
        <p:txBody>
          <a:bodyPr wrap="square">
            <a:spAutoFit/>
          </a:bodyPr>
          <a:lstStyle/>
          <a:p>
            <a:pPr>
              <a:defRPr sz="1400" b="0">
                <a:solidFill>
                  <a:srgbClr val="282D34"/>
                </a:solidFill>
                <a:latin typeface="Aptos"/>
              </a:defRPr>
            </a:pPr>
            <a:r>
              <a:t>Revenue begins around 60M and trends downward overall, ending near 27M in March. The month order shown is May, Aug, Feb, Apr, Jun, Oct, Dec, Sep, Nov, Jul, Jan and Mar; verify chronological sorting if this is intended as a time series.</a:t>
            </a:r>
          </a:p>
        </p:txBody>
      </p:sp>
      <p:sp>
        <p:nvSpPr>
          <p:cNvPr id="12" name="TextBox 11"/>
          <p:cNvSpPr txBox="1"/>
          <p:nvPr/>
        </p:nvSpPr>
        <p:spPr>
          <a:xfrm>
            <a:off x="868680" y="5623560"/>
            <a:ext cx="10424160" cy="457200"/>
          </a:xfrm>
          <a:prstGeom prst="rect">
            <a:avLst/>
          </a:prstGeom>
          <a:noFill/>
        </p:spPr>
        <p:txBody>
          <a:bodyPr wrap="square">
            <a:spAutoFit/>
          </a:bodyPr>
          <a:lstStyle/>
          <a:p>
            <a:pPr>
              <a:defRPr sz="1600" b="1">
                <a:solidFill>
                  <a:srgbClr val="D2E1F5"/>
                </a:solidFill>
                <a:latin typeface="Aptos"/>
              </a:defRPr>
            </a:pPr>
            <a:r>
              <a:t>Build tip: sort month names using a month-number field so the line follows calendar order.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2764"/>
        </a:solidFill>
        <a:effectLst/>
      </p:bgPr>
    </p:bg>
    <p:spTree>
      <p:nvGrpSpPr>
        <p:cNvPr id="1" name=""/>
        <p:cNvGrpSpPr/>
        <p:nvPr/>
      </p:nvGrpSpPr>
      <p:grpSpPr/>
      <p:sp>
        <p:nvSpPr>
          <p:cNvPr id="2" name="TextBox 1"/>
          <p:cNvSpPr txBox="1"/>
          <p:nvPr/>
        </p:nvSpPr>
        <p:spPr>
          <a:xfrm>
            <a:off x="502920" y="320040"/>
            <a:ext cx="11155680" cy="502920"/>
          </a:xfrm>
          <a:prstGeom prst="rect">
            <a:avLst/>
          </a:prstGeom>
          <a:noFill/>
        </p:spPr>
        <p:txBody>
          <a:bodyPr wrap="square">
            <a:spAutoFit/>
          </a:bodyPr>
          <a:lstStyle/>
          <a:p>
            <a:pPr>
              <a:defRPr sz="2800" b="1">
                <a:solidFill>
                  <a:srgbClr val="FFFFFF"/>
                </a:solidFill>
                <a:latin typeface="Aptos"/>
              </a:defRPr>
            </a:pPr>
            <a:r>
              <a:t>6. Compare Revenue by City</a:t>
            </a:r>
          </a:p>
        </p:txBody>
      </p:sp>
      <p:sp>
        <p:nvSpPr>
          <p:cNvPr id="3" name="TextBox 2"/>
          <p:cNvSpPr txBox="1"/>
          <p:nvPr/>
        </p:nvSpPr>
        <p:spPr>
          <a:xfrm>
            <a:off x="530352" y="868680"/>
            <a:ext cx="10972800" cy="384048"/>
          </a:xfrm>
          <a:prstGeom prst="rect">
            <a:avLst/>
          </a:prstGeom>
          <a:noFill/>
        </p:spPr>
        <p:txBody>
          <a:bodyPr wrap="square">
            <a:spAutoFit/>
          </a:bodyPr>
          <a:lstStyle/>
          <a:p>
            <a:pPr>
              <a:defRPr sz="1200" b="0">
                <a:solidFill>
                  <a:srgbClr val="D2E1F5"/>
                </a:solidFill>
                <a:latin typeface="Aptos"/>
              </a:defRPr>
            </a:pPr>
            <a:r>
              <a:t>Horizontal bar chart: rank cities by revenue.</a:t>
            </a:r>
          </a:p>
        </p:txBody>
      </p:sp>
      <p:sp>
        <p:nvSpPr>
          <p:cNvPr id="4" name="Rounded Rectangle 3"/>
          <p:cNvSpPr/>
          <p:nvPr/>
        </p:nvSpPr>
        <p:spPr>
          <a:xfrm>
            <a:off x="640080" y="1417320"/>
            <a:ext cx="5120640" cy="3429000"/>
          </a:xfrm>
          <a:prstGeom prst="round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417320"/>
            <a:ext cx="109728" cy="3429000"/>
          </a:xfrm>
          <a:prstGeom prst="rect">
            <a:avLst/>
          </a:prstGeom>
          <a:solidFill>
            <a:srgbClr val="37BE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600200"/>
            <a:ext cx="4681727" cy="365760"/>
          </a:xfrm>
          <a:prstGeom prst="rect">
            <a:avLst/>
          </a:prstGeom>
          <a:noFill/>
        </p:spPr>
        <p:txBody>
          <a:bodyPr wrap="square">
            <a:spAutoFit/>
          </a:bodyPr>
          <a:lstStyle/>
          <a:p>
            <a:pPr>
              <a:defRPr sz="1800" b="1">
                <a:solidFill>
                  <a:srgbClr val="0D2764"/>
                </a:solidFill>
                <a:latin typeface="Aptos"/>
              </a:defRPr>
            </a:pPr>
            <a:r>
              <a:t>Chart setup</a:t>
            </a:r>
          </a:p>
        </p:txBody>
      </p:sp>
      <p:sp>
        <p:nvSpPr>
          <p:cNvPr id="7" name="TextBox 6"/>
          <p:cNvSpPr txBox="1"/>
          <p:nvPr/>
        </p:nvSpPr>
        <p:spPr>
          <a:xfrm>
            <a:off x="896112" y="2075688"/>
            <a:ext cx="4681727" cy="2651760"/>
          </a:xfrm>
          <a:prstGeom prst="rect">
            <a:avLst/>
          </a:prstGeom>
          <a:noFill/>
        </p:spPr>
        <p:txBody>
          <a:bodyPr wrap="square">
            <a:spAutoFit/>
          </a:bodyPr>
          <a:lstStyle/>
          <a:p>
            <a:pPr>
              <a:defRPr sz="1400" b="0">
                <a:solidFill>
                  <a:srgbClr val="282D34"/>
                </a:solidFill>
                <a:latin typeface="Aptos"/>
              </a:defRPr>
            </a:pPr>
            <a:r>
              <a:t>• Category axis: City</a:t>
            </a:r>
          </a:p>
          <a:p>
            <a:pPr>
              <a:defRPr sz="1400" b="0">
                <a:solidFill>
                  <a:srgbClr val="282D34"/>
                </a:solidFill>
                <a:latin typeface="Aptos"/>
              </a:defRPr>
            </a:pPr>
            <a:r>
              <a:t>• Value axis: Sum of Revenue_INR</a:t>
            </a:r>
          </a:p>
          <a:p>
            <a:pPr>
              <a:defRPr sz="1400" b="0">
                <a:solidFill>
                  <a:srgbClr val="282D34"/>
                </a:solidFill>
                <a:latin typeface="Aptos"/>
              </a:defRPr>
            </a:pPr>
            <a:r>
              <a:t>• Sort bars from highest to lowest</a:t>
            </a:r>
          </a:p>
          <a:p>
            <a:pPr>
              <a:defRPr sz="1400" b="0">
                <a:solidFill>
                  <a:srgbClr val="282D34"/>
                </a:solidFill>
                <a:latin typeface="Aptos"/>
              </a:defRPr>
            </a:pPr>
            <a:r>
              <a:t>• Keep data labels visible for quick comparison</a:t>
            </a:r>
          </a:p>
        </p:txBody>
      </p:sp>
      <p:sp>
        <p:nvSpPr>
          <p:cNvPr id="8" name="Rounded Rectangle 7"/>
          <p:cNvSpPr/>
          <p:nvPr/>
        </p:nvSpPr>
        <p:spPr>
          <a:xfrm>
            <a:off x="6080760" y="1417320"/>
            <a:ext cx="5394960" cy="3429000"/>
          </a:xfrm>
          <a:prstGeom prst="round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80760" y="1417320"/>
            <a:ext cx="109728" cy="3429000"/>
          </a:xfrm>
          <a:prstGeom prst="rect">
            <a:avLst/>
          </a:prstGeom>
          <a:solidFill>
            <a:srgbClr val="469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36792" y="1600200"/>
            <a:ext cx="4956048" cy="365760"/>
          </a:xfrm>
          <a:prstGeom prst="rect">
            <a:avLst/>
          </a:prstGeom>
          <a:noFill/>
        </p:spPr>
        <p:txBody>
          <a:bodyPr wrap="square">
            <a:spAutoFit/>
          </a:bodyPr>
          <a:lstStyle/>
          <a:p>
            <a:pPr>
              <a:defRPr sz="1800" b="1">
                <a:solidFill>
                  <a:srgbClr val="0D2764"/>
                </a:solidFill>
                <a:latin typeface="Aptos"/>
              </a:defRPr>
            </a:pPr>
            <a:r>
              <a:t>Key observation</a:t>
            </a:r>
          </a:p>
        </p:txBody>
      </p:sp>
      <p:sp>
        <p:nvSpPr>
          <p:cNvPr id="11" name="TextBox 10"/>
          <p:cNvSpPr txBox="1"/>
          <p:nvPr/>
        </p:nvSpPr>
        <p:spPr>
          <a:xfrm>
            <a:off x="6336792" y="2075688"/>
            <a:ext cx="4956048" cy="2651760"/>
          </a:xfrm>
          <a:prstGeom prst="rect">
            <a:avLst/>
          </a:prstGeom>
          <a:noFill/>
        </p:spPr>
        <p:txBody>
          <a:bodyPr wrap="square">
            <a:spAutoFit/>
          </a:bodyPr>
          <a:lstStyle/>
          <a:p>
            <a:pPr>
              <a:defRPr sz="1400" b="0">
                <a:solidFill>
                  <a:srgbClr val="282D34"/>
                </a:solidFill>
                <a:latin typeface="Aptos"/>
              </a:defRPr>
            </a:pPr>
            <a:r>
              <a:t>Mumbai leads at about 81M, followed by Jaipur (69M) and Bengaluru (64M). Lucknow is around 45M. A horizontal bar chart makes city names easy to read and supports ranking.</a:t>
            </a:r>
          </a:p>
        </p:txBody>
      </p:sp>
      <p:sp>
        <p:nvSpPr>
          <p:cNvPr id="12" name="TextBox 11"/>
          <p:cNvSpPr txBox="1"/>
          <p:nvPr/>
        </p:nvSpPr>
        <p:spPr>
          <a:xfrm>
            <a:off x="868680" y="5623560"/>
            <a:ext cx="10424160" cy="457200"/>
          </a:xfrm>
          <a:prstGeom prst="rect">
            <a:avLst/>
          </a:prstGeom>
          <a:noFill/>
        </p:spPr>
        <p:txBody>
          <a:bodyPr wrap="square">
            <a:spAutoFit/>
          </a:bodyPr>
          <a:lstStyle/>
          <a:p>
            <a:pPr>
              <a:defRPr sz="1600" b="1">
                <a:solidFill>
                  <a:srgbClr val="D2E1F5"/>
                </a:solidFill>
                <a:latin typeface="Aptos"/>
              </a:defRPr>
            </a:pPr>
            <a:r>
              <a:t>Use this view to identify high-performing markets and cities that may need attention.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2764"/>
        </a:solidFill>
        <a:effectLst/>
      </p:bgPr>
    </p:bg>
    <p:spTree>
      <p:nvGrpSpPr>
        <p:cNvPr id="1" name=""/>
        <p:cNvGrpSpPr/>
        <p:nvPr/>
      </p:nvGrpSpPr>
      <p:grpSpPr/>
      <p:sp>
        <p:nvSpPr>
          <p:cNvPr id="2" name="TextBox 1"/>
          <p:cNvSpPr txBox="1"/>
          <p:nvPr/>
        </p:nvSpPr>
        <p:spPr>
          <a:xfrm>
            <a:off x="502920" y="320040"/>
            <a:ext cx="11155680" cy="502920"/>
          </a:xfrm>
          <a:prstGeom prst="rect">
            <a:avLst/>
          </a:prstGeom>
          <a:noFill/>
        </p:spPr>
        <p:txBody>
          <a:bodyPr wrap="square">
            <a:spAutoFit/>
          </a:bodyPr>
          <a:lstStyle/>
          <a:p>
            <a:pPr>
              <a:defRPr sz="2800" b="1">
                <a:solidFill>
                  <a:srgbClr val="FFFFFF"/>
                </a:solidFill>
                <a:latin typeface="Aptos"/>
              </a:defRPr>
            </a:pPr>
            <a:r>
              <a:t>7. Compare Car-Model Counts by State</a:t>
            </a:r>
          </a:p>
        </p:txBody>
      </p:sp>
      <p:sp>
        <p:nvSpPr>
          <p:cNvPr id="3" name="TextBox 2"/>
          <p:cNvSpPr txBox="1"/>
          <p:nvPr/>
        </p:nvSpPr>
        <p:spPr>
          <a:xfrm>
            <a:off x="530352" y="868680"/>
            <a:ext cx="10972800" cy="384048"/>
          </a:xfrm>
          <a:prstGeom prst="rect">
            <a:avLst/>
          </a:prstGeom>
          <a:noFill/>
        </p:spPr>
        <p:txBody>
          <a:bodyPr wrap="square">
            <a:spAutoFit/>
          </a:bodyPr>
          <a:lstStyle/>
          <a:p>
            <a:pPr>
              <a:defRPr sz="1200" b="0">
                <a:solidFill>
                  <a:srgbClr val="D2E1F5"/>
                </a:solidFill>
                <a:latin typeface="Aptos"/>
              </a:defRPr>
            </a:pPr>
            <a:r>
              <a:t>Column chart: count of Car_Model grouped by State.</a:t>
            </a:r>
          </a:p>
        </p:txBody>
      </p:sp>
      <p:sp>
        <p:nvSpPr>
          <p:cNvPr id="4" name="Rounded Rectangle 3"/>
          <p:cNvSpPr/>
          <p:nvPr/>
        </p:nvSpPr>
        <p:spPr>
          <a:xfrm>
            <a:off x="640080" y="1417320"/>
            <a:ext cx="5120640" cy="3429000"/>
          </a:xfrm>
          <a:prstGeom prst="round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417320"/>
            <a:ext cx="109728" cy="3429000"/>
          </a:xfrm>
          <a:prstGeom prst="rect">
            <a:avLst/>
          </a:prstGeom>
          <a:solidFill>
            <a:srgbClr val="37BE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600200"/>
            <a:ext cx="4681727" cy="365760"/>
          </a:xfrm>
          <a:prstGeom prst="rect">
            <a:avLst/>
          </a:prstGeom>
          <a:noFill/>
        </p:spPr>
        <p:txBody>
          <a:bodyPr wrap="square">
            <a:spAutoFit/>
          </a:bodyPr>
          <a:lstStyle/>
          <a:p>
            <a:pPr>
              <a:defRPr sz="1800" b="1">
                <a:solidFill>
                  <a:srgbClr val="0D2764"/>
                </a:solidFill>
                <a:latin typeface="Aptos"/>
              </a:defRPr>
            </a:pPr>
            <a:r>
              <a:t>Chart setup</a:t>
            </a:r>
          </a:p>
        </p:txBody>
      </p:sp>
      <p:sp>
        <p:nvSpPr>
          <p:cNvPr id="7" name="TextBox 6"/>
          <p:cNvSpPr txBox="1"/>
          <p:nvPr/>
        </p:nvSpPr>
        <p:spPr>
          <a:xfrm>
            <a:off x="896112" y="2075688"/>
            <a:ext cx="4681727" cy="2651760"/>
          </a:xfrm>
          <a:prstGeom prst="rect">
            <a:avLst/>
          </a:prstGeom>
          <a:noFill/>
        </p:spPr>
        <p:txBody>
          <a:bodyPr wrap="square">
            <a:spAutoFit/>
          </a:bodyPr>
          <a:lstStyle/>
          <a:p>
            <a:pPr>
              <a:defRPr sz="1400" b="0">
                <a:solidFill>
                  <a:srgbClr val="282D34"/>
                </a:solidFill>
                <a:latin typeface="Aptos"/>
              </a:defRPr>
            </a:pPr>
            <a:r>
              <a:t>• Category axis: State</a:t>
            </a:r>
          </a:p>
          <a:p>
            <a:pPr>
              <a:defRPr sz="1400" b="0">
                <a:solidFill>
                  <a:srgbClr val="282D34"/>
                </a:solidFill>
                <a:latin typeface="Aptos"/>
              </a:defRPr>
            </a:pPr>
            <a:r>
              <a:t>• Value axis: Count of Car_Model</a:t>
            </a:r>
          </a:p>
          <a:p>
            <a:pPr>
              <a:defRPr sz="1400" b="0">
                <a:solidFill>
                  <a:srgbClr val="282D34"/>
                </a:solidFill>
                <a:latin typeface="Aptos"/>
              </a:defRPr>
            </a:pPr>
            <a:r>
              <a:t>• Show data labels above columns</a:t>
            </a:r>
          </a:p>
          <a:p>
            <a:pPr>
              <a:defRPr sz="1400" b="0">
                <a:solidFill>
                  <a:srgbClr val="282D34"/>
                </a:solidFill>
                <a:latin typeface="Aptos"/>
              </a:defRPr>
            </a:pPr>
            <a:r>
              <a:t>• Keep the state names readable</a:t>
            </a:r>
          </a:p>
        </p:txBody>
      </p:sp>
      <p:sp>
        <p:nvSpPr>
          <p:cNvPr id="8" name="Rounded Rectangle 7"/>
          <p:cNvSpPr/>
          <p:nvPr/>
        </p:nvSpPr>
        <p:spPr>
          <a:xfrm>
            <a:off x="6080760" y="1417320"/>
            <a:ext cx="5394960" cy="3429000"/>
          </a:xfrm>
          <a:prstGeom prst="round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80760" y="1417320"/>
            <a:ext cx="109728" cy="3429000"/>
          </a:xfrm>
          <a:prstGeom prst="rect">
            <a:avLst/>
          </a:prstGeom>
          <a:solidFill>
            <a:srgbClr val="469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36792" y="1600200"/>
            <a:ext cx="4956048" cy="365760"/>
          </a:xfrm>
          <a:prstGeom prst="rect">
            <a:avLst/>
          </a:prstGeom>
          <a:noFill/>
        </p:spPr>
        <p:txBody>
          <a:bodyPr wrap="square">
            <a:spAutoFit/>
          </a:bodyPr>
          <a:lstStyle/>
          <a:p>
            <a:pPr>
              <a:defRPr sz="1800" b="1">
                <a:solidFill>
                  <a:srgbClr val="0D2764"/>
                </a:solidFill>
                <a:latin typeface="Aptos"/>
              </a:defRPr>
            </a:pPr>
            <a:r>
              <a:t>Key observation</a:t>
            </a:r>
          </a:p>
        </p:txBody>
      </p:sp>
      <p:sp>
        <p:nvSpPr>
          <p:cNvPr id="11" name="TextBox 10"/>
          <p:cNvSpPr txBox="1"/>
          <p:nvPr/>
        </p:nvSpPr>
        <p:spPr>
          <a:xfrm>
            <a:off x="6336792" y="2075688"/>
            <a:ext cx="4956048" cy="2651760"/>
          </a:xfrm>
          <a:prstGeom prst="rect">
            <a:avLst/>
          </a:prstGeom>
          <a:noFill/>
        </p:spPr>
        <p:txBody>
          <a:bodyPr wrap="square">
            <a:spAutoFit/>
          </a:bodyPr>
          <a:lstStyle/>
          <a:p>
            <a:pPr>
              <a:defRPr sz="1400" b="0">
                <a:solidFill>
                  <a:srgbClr val="282D34"/>
                </a:solidFill>
                <a:latin typeface="Aptos"/>
              </a:defRPr>
            </a:pPr>
            <a:r>
              <a:t>Maharashtra has the highest count at 119. Rajasthan follows at 56 and Karnataka at 53. The remaining displayed states are clustered around 41–52.</a:t>
            </a:r>
          </a:p>
        </p:txBody>
      </p:sp>
      <p:sp>
        <p:nvSpPr>
          <p:cNvPr id="12" name="TextBox 11"/>
          <p:cNvSpPr txBox="1"/>
          <p:nvPr/>
        </p:nvSpPr>
        <p:spPr>
          <a:xfrm>
            <a:off x="868680" y="5623560"/>
            <a:ext cx="10424160" cy="548640"/>
          </a:xfrm>
          <a:prstGeom prst="rect">
            <a:avLst/>
          </a:prstGeom>
          <a:noFill/>
        </p:spPr>
        <p:txBody>
          <a:bodyPr wrap="square">
            <a:spAutoFit/>
          </a:bodyPr>
          <a:lstStyle/>
          <a:p>
            <a:pPr>
              <a:defRPr sz="1500" b="1">
                <a:solidFill>
                  <a:srgbClr val="D2E1F5"/>
                </a:solidFill>
                <a:latin typeface="Aptos"/>
              </a:defRPr>
            </a:pPr>
            <a:r>
              <a:t>This chart compares the distribution of car-model records across states; it is a count, not necessarily the number of unique models.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2764"/>
        </a:solidFill>
        <a:effectLst/>
      </p:bgPr>
    </p:bg>
    <p:spTree>
      <p:nvGrpSpPr>
        <p:cNvPr id="1" name=""/>
        <p:cNvGrpSpPr/>
        <p:nvPr/>
      </p:nvGrpSpPr>
      <p:grpSpPr/>
      <p:sp>
        <p:nvSpPr>
          <p:cNvPr id="2" name="TextBox 1"/>
          <p:cNvSpPr txBox="1"/>
          <p:nvPr/>
        </p:nvSpPr>
        <p:spPr>
          <a:xfrm>
            <a:off x="502920" y="320040"/>
            <a:ext cx="11155680" cy="502920"/>
          </a:xfrm>
          <a:prstGeom prst="rect">
            <a:avLst/>
          </a:prstGeom>
          <a:noFill/>
        </p:spPr>
        <p:txBody>
          <a:bodyPr wrap="square">
            <a:spAutoFit/>
          </a:bodyPr>
          <a:lstStyle/>
          <a:p>
            <a:pPr>
              <a:defRPr sz="2800" b="1">
                <a:solidFill>
                  <a:srgbClr val="FFFFFF"/>
                </a:solidFill>
                <a:latin typeface="Aptos"/>
              </a:defRPr>
            </a:pPr>
            <a:r>
              <a:t>8. Break Down Revenue by Sales Channel</a:t>
            </a:r>
          </a:p>
        </p:txBody>
      </p:sp>
      <p:sp>
        <p:nvSpPr>
          <p:cNvPr id="3" name="TextBox 2"/>
          <p:cNvSpPr txBox="1"/>
          <p:nvPr/>
        </p:nvSpPr>
        <p:spPr>
          <a:xfrm>
            <a:off x="530352" y="868680"/>
            <a:ext cx="10972800" cy="384048"/>
          </a:xfrm>
          <a:prstGeom prst="rect">
            <a:avLst/>
          </a:prstGeom>
          <a:noFill/>
        </p:spPr>
        <p:txBody>
          <a:bodyPr wrap="square">
            <a:spAutoFit/>
          </a:bodyPr>
          <a:lstStyle/>
          <a:p>
            <a:pPr>
              <a:defRPr sz="1200" b="0">
                <a:solidFill>
                  <a:srgbClr val="D2E1F5"/>
                </a:solidFill>
                <a:latin typeface="Aptos"/>
              </a:defRPr>
            </a:pPr>
            <a:r>
              <a:t>Donut chart: share of revenue by channel.</a:t>
            </a:r>
          </a:p>
        </p:txBody>
      </p:sp>
      <p:sp>
        <p:nvSpPr>
          <p:cNvPr id="4" name="Rounded Rectangle 3"/>
          <p:cNvSpPr/>
          <p:nvPr/>
        </p:nvSpPr>
        <p:spPr>
          <a:xfrm>
            <a:off x="640080" y="1417320"/>
            <a:ext cx="5120640" cy="3429000"/>
          </a:xfrm>
          <a:prstGeom prst="round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417320"/>
            <a:ext cx="109728" cy="3429000"/>
          </a:xfrm>
          <a:prstGeom prst="rect">
            <a:avLst/>
          </a:prstGeom>
          <a:solidFill>
            <a:srgbClr val="37BE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600200"/>
            <a:ext cx="4681727" cy="365760"/>
          </a:xfrm>
          <a:prstGeom prst="rect">
            <a:avLst/>
          </a:prstGeom>
          <a:noFill/>
        </p:spPr>
        <p:txBody>
          <a:bodyPr wrap="square">
            <a:spAutoFit/>
          </a:bodyPr>
          <a:lstStyle/>
          <a:p>
            <a:pPr>
              <a:defRPr sz="1800" b="1">
                <a:solidFill>
                  <a:srgbClr val="0D2764"/>
                </a:solidFill>
                <a:latin typeface="Aptos"/>
              </a:defRPr>
            </a:pPr>
            <a:r>
              <a:t>Chart setup</a:t>
            </a:r>
          </a:p>
        </p:txBody>
      </p:sp>
      <p:sp>
        <p:nvSpPr>
          <p:cNvPr id="7" name="TextBox 6"/>
          <p:cNvSpPr txBox="1"/>
          <p:nvPr/>
        </p:nvSpPr>
        <p:spPr>
          <a:xfrm>
            <a:off x="896112" y="2075688"/>
            <a:ext cx="4681727" cy="2651760"/>
          </a:xfrm>
          <a:prstGeom prst="rect">
            <a:avLst/>
          </a:prstGeom>
          <a:noFill/>
        </p:spPr>
        <p:txBody>
          <a:bodyPr wrap="square">
            <a:spAutoFit/>
          </a:bodyPr>
          <a:lstStyle/>
          <a:p>
            <a:pPr>
              <a:defRPr sz="1400" b="0">
                <a:solidFill>
                  <a:srgbClr val="282D34"/>
                </a:solidFill>
                <a:latin typeface="Aptos"/>
              </a:defRPr>
            </a:pPr>
            <a:r>
              <a:t>• Category/legend: Sales_Channel</a:t>
            </a:r>
          </a:p>
          <a:p>
            <a:pPr>
              <a:defRPr sz="1400" b="0">
                <a:solidFill>
                  <a:srgbClr val="282D34"/>
                </a:solidFill>
                <a:latin typeface="Aptos"/>
              </a:defRPr>
            </a:pPr>
            <a:r>
              <a:t>• Values: Sum of Revenue_INR</a:t>
            </a:r>
          </a:p>
          <a:p>
            <a:pPr>
              <a:defRPr sz="1400" b="0">
                <a:solidFill>
                  <a:srgbClr val="282D34"/>
                </a:solidFill>
                <a:latin typeface="Aptos"/>
              </a:defRPr>
            </a:pPr>
            <a:r>
              <a:t>• Use a donut to emphasize share of total</a:t>
            </a:r>
          </a:p>
          <a:p>
            <a:pPr>
              <a:defRPr sz="1400" b="0">
                <a:solidFill>
                  <a:srgbClr val="282D34"/>
                </a:solidFill>
                <a:latin typeface="Aptos"/>
              </a:defRPr>
            </a:pPr>
            <a:r>
              <a:t>• Add value and percentage labels</a:t>
            </a:r>
          </a:p>
        </p:txBody>
      </p:sp>
      <p:sp>
        <p:nvSpPr>
          <p:cNvPr id="8" name="Rounded Rectangle 7"/>
          <p:cNvSpPr/>
          <p:nvPr/>
        </p:nvSpPr>
        <p:spPr>
          <a:xfrm>
            <a:off x="6080760" y="1417320"/>
            <a:ext cx="5394960" cy="3429000"/>
          </a:xfrm>
          <a:prstGeom prst="round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80760" y="1417320"/>
            <a:ext cx="109728" cy="3429000"/>
          </a:xfrm>
          <a:prstGeom prst="rect">
            <a:avLst/>
          </a:prstGeom>
          <a:solidFill>
            <a:srgbClr val="469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36792" y="1600200"/>
            <a:ext cx="4956048" cy="365760"/>
          </a:xfrm>
          <a:prstGeom prst="rect">
            <a:avLst/>
          </a:prstGeom>
          <a:noFill/>
        </p:spPr>
        <p:txBody>
          <a:bodyPr wrap="square">
            <a:spAutoFit/>
          </a:bodyPr>
          <a:lstStyle/>
          <a:p>
            <a:pPr>
              <a:defRPr sz="1800" b="1">
                <a:solidFill>
                  <a:srgbClr val="0D2764"/>
                </a:solidFill>
                <a:latin typeface="Aptos"/>
              </a:defRPr>
            </a:pPr>
            <a:r>
              <a:t>What it shows</a:t>
            </a:r>
          </a:p>
        </p:txBody>
      </p:sp>
      <p:sp>
        <p:nvSpPr>
          <p:cNvPr id="11" name="TextBox 10"/>
          <p:cNvSpPr txBox="1"/>
          <p:nvPr/>
        </p:nvSpPr>
        <p:spPr>
          <a:xfrm>
            <a:off x="6336792" y="2075688"/>
            <a:ext cx="4956048" cy="2651760"/>
          </a:xfrm>
          <a:prstGeom prst="rect">
            <a:avLst/>
          </a:prstGeom>
          <a:noFill/>
        </p:spPr>
        <p:txBody>
          <a:bodyPr wrap="square">
            <a:spAutoFit/>
          </a:bodyPr>
          <a:lstStyle/>
          <a:p>
            <a:pPr>
              <a:defRPr sz="1400" b="0">
                <a:solidFill>
                  <a:srgbClr val="282D34"/>
                </a:solidFill>
                <a:latin typeface="Aptos"/>
              </a:defRPr>
            </a:pPr>
            <a:r>
              <a:t>The displayed channel segments are approximately 204M (35.64%), 200M (35.04%) and 168M (29.32%). The three shares add to 100%, with the first two channels contributing similar proportions.</a:t>
            </a:r>
          </a:p>
        </p:txBody>
      </p:sp>
      <p:sp>
        <p:nvSpPr>
          <p:cNvPr id="12" name="TextBox 11"/>
          <p:cNvSpPr txBox="1"/>
          <p:nvPr/>
        </p:nvSpPr>
        <p:spPr>
          <a:xfrm>
            <a:off x="868680" y="5623560"/>
            <a:ext cx="10424160" cy="457200"/>
          </a:xfrm>
          <a:prstGeom prst="rect">
            <a:avLst/>
          </a:prstGeom>
          <a:noFill/>
        </p:spPr>
        <p:txBody>
          <a:bodyPr wrap="square">
            <a:spAutoFit/>
          </a:bodyPr>
          <a:lstStyle/>
          <a:p>
            <a:pPr>
              <a:defRPr sz="1600" b="1">
                <a:solidFill>
                  <a:srgbClr val="D2E1F5"/>
                </a:solidFill>
                <a:latin typeface="Aptos"/>
              </a:defRPr>
            </a:pPr>
            <a:r>
              <a:t>Keep the legend visible so viewers can match each segment to Online, Direct and Dealer.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2764"/>
        </a:solidFill>
        <a:effectLst/>
      </p:bgPr>
    </p:bg>
    <p:spTree>
      <p:nvGrpSpPr>
        <p:cNvPr id="1" name=""/>
        <p:cNvGrpSpPr/>
        <p:nvPr/>
      </p:nvGrpSpPr>
      <p:grpSpPr/>
      <p:sp>
        <p:nvSpPr>
          <p:cNvPr id="2" name="TextBox 1"/>
          <p:cNvSpPr txBox="1"/>
          <p:nvPr/>
        </p:nvSpPr>
        <p:spPr>
          <a:xfrm>
            <a:off x="502920" y="320040"/>
            <a:ext cx="11155680" cy="502920"/>
          </a:xfrm>
          <a:prstGeom prst="rect">
            <a:avLst/>
          </a:prstGeom>
          <a:noFill/>
        </p:spPr>
        <p:txBody>
          <a:bodyPr wrap="square">
            <a:spAutoFit/>
          </a:bodyPr>
          <a:lstStyle/>
          <a:p>
            <a:pPr>
              <a:defRPr sz="2800" b="1">
                <a:solidFill>
                  <a:srgbClr val="FFFFFF"/>
                </a:solidFill>
                <a:latin typeface="Aptos"/>
              </a:defRPr>
            </a:pPr>
            <a:r>
              <a:t>9. Assemble and Review the Dashboard</a:t>
            </a:r>
          </a:p>
        </p:txBody>
      </p:sp>
      <p:sp>
        <p:nvSpPr>
          <p:cNvPr id="3" name="TextBox 2"/>
          <p:cNvSpPr txBox="1"/>
          <p:nvPr/>
        </p:nvSpPr>
        <p:spPr>
          <a:xfrm>
            <a:off x="530352" y="868680"/>
            <a:ext cx="10972800" cy="384048"/>
          </a:xfrm>
          <a:prstGeom prst="rect">
            <a:avLst/>
          </a:prstGeom>
          <a:noFill/>
        </p:spPr>
        <p:txBody>
          <a:bodyPr wrap="square">
            <a:spAutoFit/>
          </a:bodyPr>
          <a:lstStyle/>
          <a:p>
            <a:pPr>
              <a:defRPr sz="1200" b="0">
                <a:solidFill>
                  <a:srgbClr val="D2E1F5"/>
                </a:solidFill>
                <a:latin typeface="Aptos"/>
              </a:defRPr>
            </a:pPr>
            <a:r>
              <a:t>Bring the visuals together and check consistency.</a:t>
            </a:r>
          </a:p>
        </p:txBody>
      </p:sp>
      <p:pic>
        <p:nvPicPr>
          <p:cNvPr id="4" name="Picture 3" descr="Screenshot 2026-10-13 033928.png"/>
          <p:cNvPicPr>
            <a:picLocks noChangeAspect="1"/>
          </p:cNvPicPr>
          <p:nvPr/>
        </p:nvPicPr>
        <p:blipFill>
          <a:blip r:embed="rId2"/>
          <a:stretch>
            <a:fillRect/>
          </a:stretch>
        </p:blipFill>
        <p:spPr>
          <a:xfrm>
            <a:off x="1958094" y="1325880"/>
            <a:ext cx="8275506" cy="5257800"/>
          </a:xfrm>
          <a:prstGeom prst="rect">
            <a:avLst/>
          </a:prstGeom>
        </p:spPr>
      </p:pic>
      <p:sp>
        <p:nvSpPr>
          <p:cNvPr id="5" name="TextBox 4"/>
          <p:cNvSpPr txBox="1"/>
          <p:nvPr/>
        </p:nvSpPr>
        <p:spPr>
          <a:xfrm>
            <a:off x="731520" y="6446520"/>
            <a:ext cx="10789920" cy="228600"/>
          </a:xfrm>
          <a:prstGeom prst="rect">
            <a:avLst/>
          </a:prstGeom>
          <a:noFill/>
        </p:spPr>
        <p:txBody>
          <a:bodyPr wrap="square">
            <a:spAutoFit/>
          </a:bodyPr>
          <a:lstStyle/>
          <a:p>
            <a:pPr algn="ctr">
              <a:defRPr sz="1200" b="1">
                <a:solidFill>
                  <a:srgbClr val="FFFFFF"/>
                </a:solidFill>
                <a:latin typeface="Aptos"/>
              </a:defRPr>
            </a:pPr>
            <a:r>
              <a:t>Final checks: titles • units • labels • sorting • color consistency • KPI accuracy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2764"/>
        </a:solidFill>
        <a:effectLst/>
      </p:bgPr>
    </p:bg>
    <p:spTree>
      <p:nvGrpSpPr>
        <p:cNvPr id="1" name=""/>
        <p:cNvGrpSpPr/>
        <p:nvPr/>
      </p:nvGrpSpPr>
      <p:grpSpPr/>
      <p:sp>
        <p:nvSpPr>
          <p:cNvPr id="2" name="TextBox 1"/>
          <p:cNvSpPr txBox="1"/>
          <p:nvPr/>
        </p:nvSpPr>
        <p:spPr>
          <a:xfrm>
            <a:off x="502920" y="320040"/>
            <a:ext cx="11155680" cy="502920"/>
          </a:xfrm>
          <a:prstGeom prst="rect">
            <a:avLst/>
          </a:prstGeom>
          <a:noFill/>
        </p:spPr>
        <p:txBody>
          <a:bodyPr wrap="square">
            <a:spAutoFit/>
          </a:bodyPr>
          <a:lstStyle/>
          <a:p>
            <a:pPr>
              <a:defRPr sz="2800" b="1">
                <a:solidFill>
                  <a:srgbClr val="FFFFFF"/>
                </a:solidFill>
                <a:latin typeface="Aptos"/>
              </a:defRPr>
            </a:pPr>
            <a:r>
              <a:t>10. Insights &amp; Conclusion</a:t>
            </a:r>
          </a:p>
        </p:txBody>
      </p:sp>
      <p:sp>
        <p:nvSpPr>
          <p:cNvPr id="3" name="TextBox 2"/>
          <p:cNvSpPr txBox="1"/>
          <p:nvPr/>
        </p:nvSpPr>
        <p:spPr>
          <a:xfrm>
            <a:off x="530352" y="868680"/>
            <a:ext cx="10972800" cy="384048"/>
          </a:xfrm>
          <a:prstGeom prst="rect">
            <a:avLst/>
          </a:prstGeom>
          <a:noFill/>
        </p:spPr>
        <p:txBody>
          <a:bodyPr wrap="square">
            <a:spAutoFit/>
          </a:bodyPr>
          <a:lstStyle/>
          <a:p>
            <a:pPr>
              <a:defRPr sz="1200" b="0">
                <a:solidFill>
                  <a:srgbClr val="D2E1F5"/>
                </a:solidFill>
                <a:latin typeface="Aptos"/>
              </a:defRPr>
            </a:pPr>
            <a:r>
              <a:t>Summarize what the dashboard helps a user understand.</a:t>
            </a:r>
          </a:p>
        </p:txBody>
      </p:sp>
      <p:sp>
        <p:nvSpPr>
          <p:cNvPr id="4" name="TextBox 3"/>
          <p:cNvSpPr txBox="1"/>
          <p:nvPr/>
        </p:nvSpPr>
        <p:spPr>
          <a:xfrm>
            <a:off x="777240" y="1508760"/>
            <a:ext cx="10607040" cy="4389120"/>
          </a:xfrm>
          <a:prstGeom prst="rect">
            <a:avLst/>
          </a:prstGeom>
          <a:noFill/>
        </p:spPr>
        <p:txBody>
          <a:bodyPr wrap="square">
            <a:spAutoFit/>
          </a:bodyPr>
          <a:lstStyle/>
          <a:p>
            <a:pPr>
              <a:spcAft>
                <a:spcPts val="1400"/>
              </a:spcAft>
              <a:defRPr sz="2000">
                <a:solidFill>
                  <a:srgbClr val="FFFFFF"/>
                </a:solidFill>
                <a:latin typeface="Aptos"/>
              </a:defRPr>
            </a:pPr>
            <a:r>
              <a:t>•  Headline performance: 572M revenue and 73.50M profit.</a:t>
            </a:r>
          </a:p>
          <a:p>
            <a:pPr>
              <a:spcAft>
                <a:spcPts val="1400"/>
              </a:spcAft>
              <a:defRPr sz="2000">
                <a:solidFill>
                  <a:srgbClr val="FFFFFF"/>
                </a:solidFill>
                <a:latin typeface="Aptos"/>
              </a:defRPr>
            </a:pPr>
            <a:r>
              <a:t>•  City view: Mumbai is the strongest displayed revenue market.</a:t>
            </a:r>
          </a:p>
          <a:p>
            <a:pPr>
              <a:spcAft>
                <a:spcPts val="1400"/>
              </a:spcAft>
              <a:defRPr sz="2000">
                <a:solidFill>
                  <a:srgbClr val="FFFFFF"/>
                </a:solidFill>
                <a:latin typeface="Aptos"/>
              </a:defRPr>
            </a:pPr>
            <a:r>
              <a:t>•  State view: Maharashtra has the highest displayed car-model count.</a:t>
            </a:r>
          </a:p>
          <a:p>
            <a:pPr>
              <a:spcAft>
                <a:spcPts val="1400"/>
              </a:spcAft>
              <a:defRPr sz="2000">
                <a:solidFill>
                  <a:srgbClr val="FFFFFF"/>
                </a:solidFill>
                <a:latin typeface="Aptos"/>
              </a:defRPr>
            </a:pPr>
            <a:r>
              <a:t>•  Channel view: revenue is distributed across Online, Direct and Dealer.</a:t>
            </a:r>
          </a:p>
          <a:p>
            <a:pPr>
              <a:spcAft>
                <a:spcPts val="1400"/>
              </a:spcAft>
              <a:defRPr sz="2000">
                <a:solidFill>
                  <a:srgbClr val="FFFFFF"/>
                </a:solidFill>
                <a:latin typeface="Aptos"/>
              </a:defRPr>
            </a:pPr>
            <a:r>
              <a:t>•  Next improvement: validate month sorting and confirm the definitions behind Cars Sold and Total Sales.</a:t>
            </a:r>
          </a:p>
        </p:txBody>
      </p:sp>
      <p:sp>
        <p:nvSpPr>
          <p:cNvPr id="5" name="TextBox 4"/>
          <p:cNvSpPr txBox="1"/>
          <p:nvPr/>
        </p:nvSpPr>
        <p:spPr>
          <a:xfrm>
            <a:off x="731520" y="5806440"/>
            <a:ext cx="10789920" cy="411480"/>
          </a:xfrm>
          <a:prstGeom prst="rect">
            <a:avLst/>
          </a:prstGeom>
          <a:noFill/>
        </p:spPr>
        <p:txBody>
          <a:bodyPr wrap="square">
            <a:spAutoFit/>
          </a:bodyPr>
          <a:lstStyle/>
          <a:p>
            <a:pPr algn="ctr">
              <a:defRPr sz="2400" b="1">
                <a:solidFill>
                  <a:srgbClr val="37BECD"/>
                </a:solidFill>
                <a:latin typeface="Aptos"/>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